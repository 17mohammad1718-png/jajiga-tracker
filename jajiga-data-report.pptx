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میزبان</c:v>
                </c:pt>
              </c:strCache>
            </c:strRef>
          </c:tx>
          <c:spPr>
            <a:solidFill>
              <a:srgbClr val="97BC62"/>
            </a:solidFill>
            <a:ln w="38100" cap="flat">
              <a:solidFill>
                <a:srgbClr val="97BC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7BC62"/>
              </a:solidFill>
              <a:ln w="9525" cap="flat">
                <a:solidFill>
                  <a:srgbClr val="97BC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10</c:v>
                </c:pt>
                <c:pt idx="2">
                  <c:v>16</c:v>
                </c:pt>
                <c:pt idx="3">
                  <c:v>39</c:v>
                </c:pt>
                <c:pt idx="4">
                  <c:v>101</c:v>
                </c:pt>
                <c:pt idx="5">
                  <c:v>183</c:v>
                </c:pt>
                <c:pt idx="6">
                  <c:v>280</c:v>
                </c:pt>
                <c:pt idx="7">
                  <c:v>346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اقامتگاه</c:v>
                </c:pt>
              </c:strCache>
            </c:strRef>
          </c:tx>
          <c:spPr>
            <a:solidFill>
              <a:srgbClr val="C9A227"/>
            </a:solidFill>
            <a:ln w="381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</c:v>
                </c:pt>
                <c:pt idx="1">
                  <c:v>4</c:v>
                </c:pt>
                <c:pt idx="2">
                  <c:v>9</c:v>
                </c:pt>
                <c:pt idx="3">
                  <c:v>32</c:v>
                </c:pt>
                <c:pt idx="4">
                  <c:v>113</c:v>
                </c:pt>
                <c:pt idx="5">
                  <c:v>231</c:v>
                </c:pt>
                <c:pt idx="6">
                  <c:v>373</c:v>
                </c:pt>
                <c:pt idx="7">
                  <c:v>467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B Nazani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E2761"/>
              </a:solidFill>
              <a:latin typeface="B Nazanin"/>
              <a:cs typeface="B Nazani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اقامتگاه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سایر</c:v>
                  </c:pt>
                  <c:pt idx="1">
                    <c:v>کاردرکلا</c:v>
                  </c:pt>
                  <c:pt idx="2">
                    <c:v>مرزیکلا</c:v>
                  </c:pt>
                  <c:pt idx="3">
                    <c:v>درازکلا</c:v>
                  </c:pt>
                  <c:pt idx="4">
                    <c:v>سیدکلا</c:v>
                  </c:pt>
                  <c:pt idx="5">
                    <c:v>گونه کلا</c:v>
                  </c:pt>
                  <c:pt idx="6">
                    <c:v>شیردارکلا</c:v>
                  </c:pt>
                  <c:pt idx="7">
                    <c:v>بالفکلا</c:v>
                  </c:pt>
                  <c:pt idx="8">
                    <c:v>چهره</c:v>
                  </c:pt>
                  <c:pt idx="9">
                    <c:v>درونکلا</c:v>
                  </c:pt>
                  <c:pt idx="10">
                    <c:v>قرآن تالار</c:v>
                  </c:pt>
                  <c:pt idx="11">
                    <c:v>رئیسکلا</c:v>
                  </c:pt>
                  <c:pt idx="12">
                    <c:v>کلاریکلا</c:v>
                  </c:pt>
                  <c:pt idx="13">
                    <c:v>کبریاکلا</c:v>
                  </c:pt>
                  <c:pt idx="14">
                    <c:v>بزچفت</c:v>
                  </c:pt>
                  <c:pt idx="15">
                    <c:v>ممرزکن</c:v>
                  </c:pt>
                  <c:pt idx="16">
                    <c:v>فرامرزکلا</c:v>
                  </c:pt>
                  <c:pt idx="17">
                    <c:v>امیرکلا</c:v>
                  </c:pt>
                  <c:pt idx="18">
                    <c:v>قادیکلا</c:v>
                  </c:pt>
                  <c:pt idx="19">
                    <c:v>سیادرکلا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127</c:v>
                </c:pt>
                <c:pt idx="1">
                  <c:v>47</c:v>
                </c:pt>
                <c:pt idx="2">
                  <c:v>45</c:v>
                </c:pt>
                <c:pt idx="3">
                  <c:v>42</c:v>
                </c:pt>
                <c:pt idx="4">
                  <c:v>32</c:v>
                </c:pt>
                <c:pt idx="5">
                  <c:v>31</c:v>
                </c:pt>
                <c:pt idx="6">
                  <c:v>31</c:v>
                </c:pt>
                <c:pt idx="7">
                  <c:v>22</c:v>
                </c:pt>
                <c:pt idx="8">
                  <c:v>22</c:v>
                </c:pt>
                <c:pt idx="9">
                  <c:v>11</c:v>
                </c:pt>
                <c:pt idx="10">
                  <c:v>10</c:v>
                </c:pt>
                <c:pt idx="11">
                  <c:v>9</c:v>
                </c:pt>
                <c:pt idx="12">
                  <c:v>8</c:v>
                </c:pt>
                <c:pt idx="13">
                  <c:v>8</c:v>
                </c:pt>
                <c:pt idx="14">
                  <c:v>7</c:v>
                </c:pt>
                <c:pt idx="15">
                  <c:v>6</c:v>
                </c:pt>
                <c:pt idx="16">
                  <c:v>5</c:v>
                </c:pt>
                <c:pt idx="17">
                  <c:v>2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B Nazani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میزبان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7BC62"/>
              </a:solidFill>
              <a:effectLst/>
            </c:spPr>
          </c:dPt>
          <c:dPt>
            <c:idx val="1"/>
            <c:bubble3D val="0"/>
            <c:spPr>
              <a:solidFill>
                <a:srgbClr val="2C5F2D"/>
              </a:solidFill>
              <a:effectLst/>
            </c:spPr>
          </c:dPt>
          <c:dPt>
            <c:idx val="2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bubble3D val="0"/>
            <c:spPr>
              <a:solidFill>
                <a:srgbClr val="C9A227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onsola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onsola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onsola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onsola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تازه‌کار</c:v>
                </c:pt>
                <c:pt idx="1">
                  <c:v>مبتدی</c:v>
                </c:pt>
                <c:pt idx="2">
                  <c:v>فعال</c:v>
                </c:pt>
                <c:pt idx="3">
                  <c:v>حرفه‌ای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128</c:v>
                </c:pt>
                <c:pt idx="1">
                  <c:v>112</c:v>
                </c:pt>
                <c:pt idx="2">
                  <c:v>83</c:v>
                </c:pt>
                <c:pt idx="3">
                  <c:v>23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E2761"/>
              </a:solidFill>
              <a:latin typeface="B Nazanin"/>
              <a:cs typeface="B Nazani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حداقل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سیدکلا</c:v>
                  </c:pt>
                  <c:pt idx="1">
                    <c:v>شیردارکلا</c:v>
                  </c:pt>
                  <c:pt idx="2">
                    <c:v>قرآن تالار</c:v>
                  </c:pt>
                  <c:pt idx="3">
                    <c:v>گونه کلا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1.68</c:v>
                </c:pt>
                <c:pt idx="1">
                  <c:v>1.3</c:v>
                </c:pt>
                <c:pt idx="2">
                  <c:v>1.4</c:v>
                </c:pt>
                <c:pt idx="3">
                  <c:v>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میانگین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سیدکلا</c:v>
                  </c:pt>
                  <c:pt idx="1">
                    <c:v>شیردارکلا</c:v>
                  </c:pt>
                  <c:pt idx="2">
                    <c:v>قرآن تالار</c:v>
                  </c:pt>
                  <c:pt idx="3">
                    <c:v>گونه کلا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2.87</c:v>
                </c:pt>
                <c:pt idx="1">
                  <c:v>4.09</c:v>
                </c:pt>
                <c:pt idx="2">
                  <c:v>2.57</c:v>
                </c:pt>
                <c:pt idx="3">
                  <c:v>3.3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حداکثر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سیدکلا</c:v>
                  </c:pt>
                  <c:pt idx="1">
                    <c:v>شیردارکلا</c:v>
                  </c:pt>
                  <c:pt idx="2">
                    <c:v>قرآن تالار</c:v>
                  </c:pt>
                  <c:pt idx="3">
                    <c:v>گونه کلا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8.5</c:v>
                </c:pt>
                <c:pt idx="1">
                  <c:v>10</c:v>
                </c:pt>
                <c:pt idx="2">
                  <c:v>3.5</c:v>
                </c:pt>
                <c:pt idx="3">
                  <c:v>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B Nazani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E2761"/>
              </a:solidFill>
              <a:latin typeface="B Nazanin"/>
              <a:cs typeface="B Nazani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کلبه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سرویس بهداشتی</c:v>
                  </c:pt>
                  <c:pt idx="1">
                    <c:v>برق</c:v>
                  </c:pt>
                  <c:pt idx="2">
                    <c:v>ملزومات پایه</c:v>
                  </c:pt>
                  <c:pt idx="3">
                    <c:v>گرمایش</c:v>
                  </c:pt>
                  <c:pt idx="4">
                    <c:v>آشپزخانه</c:v>
                  </c:pt>
                  <c:pt idx="5">
                    <c:v>یخچال</c:v>
                  </c:pt>
                  <c:pt idx="6">
                    <c:v>آب</c:v>
                  </c:pt>
                  <c:pt idx="7">
                    <c:v>سرویس ایرانی</c:v>
                  </c:pt>
                  <c:pt idx="8">
                    <c:v>اجاق</c:v>
                  </c:pt>
                  <c:pt idx="9">
                    <c:v>کولر</c:v>
                  </c:pt>
                  <c:pt idx="10">
                    <c:v>مبلمان</c:v>
                  </c:pt>
                  <c:pt idx="11">
                    <c:v>پارکینگ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108</c:v>
                </c:pt>
                <c:pt idx="1">
                  <c:v>108</c:v>
                </c:pt>
                <c:pt idx="2">
                  <c:v>108</c:v>
                </c:pt>
                <c:pt idx="3">
                  <c:v>108</c:v>
                </c:pt>
                <c:pt idx="4">
                  <c:v>108</c:v>
                </c:pt>
                <c:pt idx="5">
                  <c:v>108</c:v>
                </c:pt>
                <c:pt idx="6">
                  <c:v>108</c:v>
                </c:pt>
                <c:pt idx="7">
                  <c:v>105</c:v>
                </c:pt>
                <c:pt idx="8">
                  <c:v>105</c:v>
                </c:pt>
                <c:pt idx="9">
                  <c:v>103</c:v>
                </c:pt>
                <c:pt idx="10">
                  <c:v>103</c:v>
                </c:pt>
                <c:pt idx="11">
                  <c:v>103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B Nazani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کلبه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 روز</c:v>
                  </c:pt>
                  <c:pt idx="1">
                    <c:v>1 تا 9</c:v>
                  </c:pt>
                  <c:pt idx="2">
                    <c:v>10 تا 19</c:v>
                  </c:pt>
                  <c:pt idx="3">
                    <c:v>20+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13</c:v>
                </c:pt>
                <c:pt idx="2">
                  <c:v>20</c:v>
                </c:pt>
                <c:pt idx="3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B Nazani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474720" cy="34747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023360"/>
            <a:ext cx="2011680" cy="20116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گزارش داده‌های بازار اقامتگاه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بابل‌کنار — جاجیگا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88720" y="4160520"/>
            <a:ext cx="301752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9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297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346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188720" y="51389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E5E5E5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میزبان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4160520"/>
            <a:ext cx="301752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9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4297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467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709160" y="51389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E5E5E5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اقامتگاه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0" y="4160520"/>
            <a:ext cx="301752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9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4297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229600" y="51389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E5E5E5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کلبه در 6 روستا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مستندسازی دیتاست — فقط داده، بدون تحلیل | منبع: jajiga_complete_dataset.json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94360" cy="5943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11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مرور کلی دیتاست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27048"/>
            <a:ext cx="3337560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68680" y="249859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میزبان با پروفایل کامل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527048"/>
            <a:ext cx="3337560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467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617720" y="249859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اقامتگاه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1527048"/>
            <a:ext cx="3337560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366760" y="249859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کلبه در 6 روستای منتخب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858768"/>
            <a:ext cx="3337560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68680" y="483031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کلبه در دیتاست قیمت‌گذاری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0560" y="374904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0" y="3858768"/>
            <a:ext cx="3337560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118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617720" y="483031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فایل خام API اقامتگاه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0" y="374904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0" y="3858768"/>
            <a:ext cx="3337560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8366760" y="483031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ماه روند عرضه (1398 تا 1405)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منبع: دیتاست جاجیگا — بابل‌کنار | مرداد 1405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94360" cy="5943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11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رشد بازار 1398 تا 1405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914400" y="1325880"/>
          <a:ext cx="103327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از 4 میزبان و 2 اقامتگاه در 1398 به 346 میزبان و 467 اقامتگاه در 1405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منبع: دیتاست جاجیگا — بابل‌کنار | مرداد 1405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94360" cy="5943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11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اقامتگاه‌ها به تفکیک روستا — 20 روستا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188720"/>
          <a:ext cx="108813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منبع: دیتاست جاجیگا — بابل‌کنار | مرداد 1405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94360" cy="5943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11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6 روستای منتخب — تعداد کلبه و محدوده قیمت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سیدکلا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کلبه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1,680,000 تا 8,500,000 تومان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قرآن تالار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89120" y="1874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38912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کلبه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1,400,000 تا 3,500,000 تومان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37160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3816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گونه کلا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38160" y="1874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13816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کلبه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7532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1,500,000 تا 8,500,000 تومان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شیردارکلا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40080" y="4937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کلبه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257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1,300,000 تا 10,000,000 تومان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374904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89120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کاردرکلا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389120" y="4251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4389120" y="4937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کلبه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26280" y="5257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1,500,000 تا 7,950,000 تومان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38160" y="374904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138160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امیرکلا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138160" y="4251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8138160" y="4937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کلبه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75320" y="5257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4,990,000 تا 7,500,000 تومان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منبع: دیتاست جاجیگا — بابل‌کنار | مرداد 1405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94360" cy="5943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11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سطوح میزبان‌ها — 346 میزبان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37160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5544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06640" y="166420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346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543800" y="23088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کل میزبان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31546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06640" y="326440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543800" y="39090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میزبان حرفه‌ای (7٪ بازار)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06640" y="47548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06640" y="486460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1,905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543800" y="55092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بیشترین رزرو موفق — فتحعلی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منبع: دیتاست جاجیگا — بابل‌کنار | مرداد 1405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94360" cy="5943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11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میزبان‌های برتر بابل‌کنار — 10 نفر اول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280160"/>
          <a:ext cx="10332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840480"/>
                <a:gridCol w="2103120"/>
                <a:gridCol w="182880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رتبه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نام میزبان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تعداد اقامتگاه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رزرو موفق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سطح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فتحعلی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1,905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حرفه‌ای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شهرام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حرفه‌ای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F3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حسین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حرفه‌ای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صالح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حرفه‌ای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امیرضا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حرفه‌ای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رضا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حرفه‌ای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عیسی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حرفه‌ای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محسن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حرفه‌ای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لیلا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حرفه‌ای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مبینا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حرفه‌ای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منبع: دیتاست جاجیگا — بابل‌کنار | مرداد 1405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94360" cy="5943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11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قیمت کلبه‌ها به تفکیک روستا — 108 کلبه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325880"/>
          <a:ext cx="106984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واحد: میلیون تومان — قیمت پایه هر شب (min_price) — بدون تخفیف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منبع: دیتاست جاجیگا — بابل‌کنار | مرداد 1405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94360" cy="5943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11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پرکاربردترین امکانات — از 108 کلبه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188720"/>
          <a:ext cx="108813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منبع: دیتاست جاجیگا — بابل‌کنار | مرداد 1405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94360" cy="5943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11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وضعیت اشغال — 30 روز گذشته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81328"/>
            <a:ext cx="3337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میانگین روز اشغال از 30 روز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481328"/>
            <a:ext cx="3337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617720" y="2377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کلبه با رزرو در 30 روز اخیر (از 108)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3716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1481328"/>
            <a:ext cx="3337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366760" y="2377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کلبه بدون رزرو اخیر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10698480" cy="2468880"/>
          </a:xfrm>
          <a:prstGeom prst="roundRect">
            <a:avLst>
              <a:gd name="adj" fmla="val 2963"/>
            </a:avLst>
          </a:prstGeom>
          <a:solidFill>
            <a:srgbClr val="F2F6E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D8D8D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7947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توزیع کلبه‌ها بر اساس روزهای اشغال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1280160" y="4251960"/>
          <a:ext cx="950976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منبع: دیتاست جاجیگا — بابل‌کنار | مرداد 1405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572000" cy="45720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937760"/>
            <a:ext cx="3291840" cy="32918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467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اقامتگاه در بازار بابل‌کنار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C8C8C8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گزارش داده‌ها — جاجیگا | مرداد 1405 | منبع: jajiga_complete_dataset.json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گزارش داده‌های بازار اقامتگاه بابل‌کنار</dc:title>
  <dc:subject>PptxGenJS Presentation</dc:subject>
  <dc:creator>Hermes</dc:creator>
  <cp:lastModifiedBy>Hermes</cp:lastModifiedBy>
  <cp:revision>1</cp:revision>
  <dcterms:created xsi:type="dcterms:W3CDTF">2026-08-03T08:15:29Z</dcterms:created>
  <dcterms:modified xsi:type="dcterms:W3CDTF">2026-08-03T08:15:29Z</dcterms:modified>
</cp:coreProperties>
</file>